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1" r:id="rId9"/>
    <p:sldId id="265" r:id="rId10"/>
    <p:sldId id="262" r:id="rId11"/>
  </p:sldIdLst>
  <p:sldSz cx="12192000" cy="6858000"/>
  <p:notesSz cx="6858000" cy="12192000"/>
  <p:embeddedFontLst>
    <p:embeddedFont>
      <p:font typeface="Kumbh Sans" panose="020B0604020202020204" charset="0"/>
      <p:regular r:id="rId13"/>
    </p:embeddedFont>
    <p:embeddedFont>
      <p:font typeface="Kumbh Sans Bold" panose="020B0604020202020204" charset="0"/>
      <p:regular r:id="rId14"/>
    </p:embeddedFont>
    <p:embeddedFont>
      <p:font typeface="Kumbh Sans Medium" panose="020B0604020202020204" charset="0"/>
      <p:regular r:id="rId15"/>
    </p:embeddedFont>
    <p:embeddedFont>
      <p:font typeface="Kumbh Sans SemiBold" panose="020B0604020202020204" charset="0"/>
      <p:regular r:id="rId16"/>
    </p:embeddedFont>
    <p:embeddedFont>
      <p:font typeface="Martel ExtraBold" panose="020B0604020202020204" charset="0"/>
      <p:regular r:id="rId17"/>
    </p:embeddedFont>
    <p:embeddedFont>
      <p:font typeface="Martel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. Akshaya" userId="4da2e17be469706f" providerId="LiveId" clId="{03E15331-A318-48E2-8DFA-01B3CFB66DB8}"/>
    <pc:docChg chg="addSld modSld sldOrd">
      <pc:chgData name="A. Akshaya" userId="4da2e17be469706f" providerId="LiveId" clId="{03E15331-A318-48E2-8DFA-01B3CFB66DB8}" dt="2026-10-17T06:29:45.191" v="52" actId="14100"/>
      <pc:docMkLst>
        <pc:docMk/>
      </pc:docMkLst>
      <pc:sldChg chg="addSp modSp">
        <pc:chgData name="A. Akshaya" userId="4da2e17be469706f" providerId="LiveId" clId="{03E15331-A318-48E2-8DFA-01B3CFB66DB8}" dt="2026-10-15T14:15:17.956" v="4" actId="767"/>
        <pc:sldMkLst>
          <pc:docMk/>
          <pc:sldMk cId="0" sldId="256"/>
        </pc:sldMkLst>
        <pc:spChg chg="add mod">
          <ac:chgData name="A. Akshaya" userId="4da2e17be469706f" providerId="LiveId" clId="{03E15331-A318-48E2-8DFA-01B3CFB66DB8}" dt="2026-10-15T14:15:17.956" v="4" actId="767"/>
          <ac:spMkLst>
            <pc:docMk/>
            <pc:sldMk cId="0" sldId="256"/>
            <ac:spMk id="8" creationId="{B4AE2912-86C0-306D-3EB2-6F0560285ECB}"/>
          </ac:spMkLst>
        </pc:spChg>
      </pc:sldChg>
      <pc:sldChg chg="ord">
        <pc:chgData name="A. Akshaya" userId="4da2e17be469706f" providerId="LiveId" clId="{03E15331-A318-48E2-8DFA-01B3CFB66DB8}" dt="2026-10-15T07:01:55.141" v="1"/>
        <pc:sldMkLst>
          <pc:docMk/>
          <pc:sldMk cId="1525178498" sldId="263"/>
        </pc:sldMkLst>
      </pc:sldChg>
      <pc:sldChg chg="ord">
        <pc:chgData name="A. Akshaya" userId="4da2e17be469706f" providerId="LiveId" clId="{03E15331-A318-48E2-8DFA-01B3CFB66DB8}" dt="2026-10-15T07:02:18.813" v="3"/>
        <pc:sldMkLst>
          <pc:docMk/>
          <pc:sldMk cId="2626262209" sldId="264"/>
        </pc:sldMkLst>
      </pc:sldChg>
      <pc:sldChg chg="addSp modSp new mod ord setBg">
        <pc:chgData name="A. Akshaya" userId="4da2e17be469706f" providerId="LiveId" clId="{03E15331-A318-48E2-8DFA-01B3CFB66DB8}" dt="2026-10-17T06:29:45.191" v="52" actId="14100"/>
        <pc:sldMkLst>
          <pc:docMk/>
          <pc:sldMk cId="1046403519" sldId="265"/>
        </pc:sldMkLst>
        <pc:spChg chg="add mod">
          <ac:chgData name="A. Akshaya" userId="4da2e17be469706f" providerId="LiveId" clId="{03E15331-A318-48E2-8DFA-01B3CFB66DB8}" dt="2026-10-17T06:29:17.962" v="48" actId="14100"/>
          <ac:spMkLst>
            <pc:docMk/>
            <pc:sldMk cId="1046403519" sldId="265"/>
            <ac:spMk id="2" creationId="{0753D78D-7DAA-E2BA-0634-68650F101CA5}"/>
          </ac:spMkLst>
        </pc:spChg>
        <pc:picChg chg="add mod">
          <ac:chgData name="A. Akshaya" userId="4da2e17be469706f" providerId="LiveId" clId="{03E15331-A318-48E2-8DFA-01B3CFB66DB8}" dt="2026-10-17T06:29:45.191" v="52" actId="14100"/>
          <ac:picMkLst>
            <pc:docMk/>
            <pc:sldMk cId="1046403519" sldId="265"/>
            <ac:picMk id="4" creationId="{3140C3ED-F262-E392-6E8E-219BC80A28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98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4-bit ripple carry adder as a compact example of how simple logic blocks become a multi-bit arithmetic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 around one circuit and four questions: what a full adder does, how four stages connect, how to verify the outputs, and why carry delay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C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0192" y="1170686"/>
            <a:ext cx="698482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DIGITAL DESIGN · COMPUTER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192" y="2023269"/>
            <a:ext cx="6451439" cy="203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4600" kern="100" spc="-46" dirty="0"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4-Bit</a:t>
            </a:r>
            <a:endParaRPr lang="en-US" sz="46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4600" kern="100" spc="-46" dirty="0"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Ripple Carry</a:t>
            </a:r>
            <a:endParaRPr lang="en-US" sz="46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4600" i="1" kern="100" spc="-46" dirty="0"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Adder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30192" y="4324548"/>
            <a:ext cx="1612760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330192" y="4789051"/>
            <a:ext cx="64514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Digital Design and Computer Architecture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latin typeface="Kumbh Sans Medium" pitchFamily="34" charset="0"/>
                <a:cs typeface="Kumbh Sans Medium" pitchFamily="34" charset="-120"/>
              </a:rPr>
              <a:t>SECTION - 4</a:t>
            </a:r>
            <a:endParaRPr lang="en-US" sz="1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585" y="6446540"/>
            <a:ext cx="114029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01 / 07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76F00-6CC1-04D5-F4E0-9C5580F1A605}"/>
              </a:ext>
            </a:extLst>
          </p:cNvPr>
          <p:cNvSpPr txBox="1"/>
          <p:nvPr/>
        </p:nvSpPr>
        <p:spPr>
          <a:xfrm>
            <a:off x="7592475" y="5102681"/>
            <a:ext cx="3381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</a:t>
            </a:r>
          </a:p>
          <a:p>
            <a:r>
              <a:rPr lang="en-US" dirty="0"/>
              <a:t> VIJAY               -2620030270</a:t>
            </a:r>
          </a:p>
          <a:p>
            <a:r>
              <a:rPr lang="en-US" dirty="0"/>
              <a:t>SAI VIKRANTH -2620030268</a:t>
            </a:r>
          </a:p>
          <a:p>
            <a:r>
              <a:rPr lang="en-US" dirty="0"/>
              <a:t>GAYATHRI       - 2620030290</a:t>
            </a:r>
          </a:p>
          <a:p>
            <a:r>
              <a:rPr lang="en-US" dirty="0"/>
              <a:t>AKSHAYA         -2620030308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E2912-86C0-306D-3EB2-6F0560285ECB}"/>
              </a:ext>
            </a:extLst>
          </p:cNvPr>
          <p:cNvSpPr txBox="1"/>
          <p:nvPr/>
        </p:nvSpPr>
        <p:spPr>
          <a:xfrm>
            <a:off x="535709" y="61144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LECTURE ·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Binary arithmetic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384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Introduction and Objective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115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Shape 9"/>
          <p:cNvSpPr/>
          <p:nvPr/>
        </p:nvSpPr>
        <p:spPr>
          <a:xfrm>
            <a:off x="2946326" y="1554460"/>
            <a:ext cx="431789" cy="431800"/>
          </a:xfrm>
          <a:prstGeom prst="ellipse">
            <a:avLst/>
          </a:prstGeom>
          <a:noFill/>
          <a:ln w="19050">
            <a:solidFill>
              <a:srgbClr val="8A4E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887" y="1668760"/>
            <a:ext cx="70225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B2659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0512" y="1617643"/>
            <a:ext cx="81023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30512" y="1947763"/>
            <a:ext cx="81023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 4-bit ripple carry adder (RCA) adds two 4-bit binary numbers using four cascaded full adders.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46326" y="2806601"/>
            <a:ext cx="431789" cy="431800"/>
          </a:xfrm>
          <a:prstGeom prst="ellipse">
            <a:avLst/>
          </a:prstGeom>
          <a:noFill/>
          <a:ln w="19050">
            <a:solidFill>
              <a:srgbClr val="8A4E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1600" y="2920901"/>
            <a:ext cx="73072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B2659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30512" y="2869783"/>
            <a:ext cx="81023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Purpose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30512" y="3199904"/>
            <a:ext cx="81023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Design and verify the 4-bit RCA in Logisim, and explain how the carry ripples from bit 0 to bit 3.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46326" y="4058741"/>
            <a:ext cx="431789" cy="431800"/>
          </a:xfrm>
          <a:prstGeom prst="ellipse">
            <a:avLst/>
          </a:prstGeom>
          <a:noFill/>
          <a:ln w="19050">
            <a:solidFill>
              <a:srgbClr val="8A4E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42" y="4173041"/>
            <a:ext cx="7161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B2659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30512" y="4121924"/>
            <a:ext cx="81023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Scope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30512" y="4452045"/>
            <a:ext cx="81023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Full-adder theory, the Logisim implementation, simulation results, and applications with limitations.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46326" y="2635151"/>
            <a:ext cx="8686583" cy="127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946326" y="3887291"/>
            <a:ext cx="8686583" cy="127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6" name="Text 24"/>
          <p:cNvSpPr/>
          <p:nvPr/>
        </p:nvSpPr>
        <p:spPr>
          <a:xfrm>
            <a:off x="609585" y="6446540"/>
            <a:ext cx="11616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02 / 07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2EDDA6-FF8E-FF8E-B229-9D290B74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" y="0"/>
            <a:ext cx="12184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7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561"/>
            <a:ext cx="215894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160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03 · THEORY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9393" y="1512301"/>
            <a:ext cx="1930352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79393" y="2142232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14651"/>
            <a:ext cx="215894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160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THEORY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9393" y="5780453"/>
            <a:ext cx="2158946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Logic and circuit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46326" y="387788"/>
            <a:ext cx="8686583" cy="3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50" kern="100" spc="-29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Theory and logic circuit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2946326" y="101858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275854"/>
            <a:ext cx="8686583" cy="67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1350"/>
              </a:spcAft>
              <a:buNone/>
            </a:pP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Full adder: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adds bits A, B, and carry-in Cin, producing Sum and carry-out Cout.</a:t>
            </a:r>
            <a:endParaRPr lang="en-US" sz="14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Sum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= A ⊕ B ⊕ Cin    </a:t>
            </a: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Cout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= AB + BCin + ACin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6545"/>
              </p:ext>
            </p:extLst>
          </p:nvPr>
        </p:nvGraphicFramePr>
        <p:xfrm>
          <a:off x="2971726" y="2008196"/>
          <a:ext cx="8215820" cy="3968810"/>
        </p:xfrm>
        <a:graphic>
          <a:graphicData uri="http://schemas.openxmlformats.org/drawingml/2006/table">
            <a:tbl>
              <a:tblPr/>
              <a:tblGrid>
                <a:gridCol w="1314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3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A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B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Cin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Sum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Cout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2946326" y="6142183"/>
            <a:ext cx="8686583" cy="7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4-bit RCA circuit: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FA0 → FA1 → FA2 → FA3, with C0 = 0; each carry C1, C2, C3 feeds the next stage and C4 is the final carry.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5" name="Text 12"/>
          <p:cNvSpPr/>
          <p:nvPr/>
        </p:nvSpPr>
        <p:spPr>
          <a:xfrm>
            <a:off x="609585" y="6446540"/>
            <a:ext cx="1150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03 / 07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 shadeToTitle="1">
        <a:gradFill flip="none" rotWithShape="1"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04 · LOGISIM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Four-stage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3876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Circuit design in Logisim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0607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343323"/>
            <a:ext cx="86865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Four full-adder stages are wired in cascade; each stage adds one bit pair plus the carry from the previous stage.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46326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13" name="Text 11"/>
          <p:cNvSpPr/>
          <p:nvPr/>
        </p:nvSpPr>
        <p:spPr>
          <a:xfrm>
            <a:off x="3714955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07970" y="2735163"/>
            <a:ext cx="12196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A0, B0, C0 = 0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S0, C1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94170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16" name="Text 14"/>
          <p:cNvSpPr/>
          <p:nvPr/>
        </p:nvSpPr>
        <p:spPr>
          <a:xfrm>
            <a:off x="5984428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766053" y="2735163"/>
            <a:ext cx="7992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A1, B1, C1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S1, C2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42014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19" name="Text 17"/>
          <p:cNvSpPr/>
          <p:nvPr/>
        </p:nvSpPr>
        <p:spPr>
          <a:xfrm>
            <a:off x="8209055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50299" y="2735163"/>
            <a:ext cx="9264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A2, B2, C2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S2, C3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89858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2058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215803" y="2735163"/>
            <a:ext cx="8911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A3, B3, C3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S3, C4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46326" y="3690838"/>
            <a:ext cx="86865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Working:</a:t>
            </a: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addition starts at the least significant stage; each carry must settle before the next stage gives its final sum and the final carry C4.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46326" y="4413151"/>
            <a:ext cx="8686583" cy="714375"/>
          </a:xfrm>
          <a:prstGeom prst="roundRect">
            <a:avLst>
              <a:gd name="adj" fmla="val 1600"/>
            </a:avLst>
          </a:prstGeom>
          <a:noFill/>
          <a:ln w="25399">
            <a:solidFill>
              <a:srgbClr val="8A4E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9479" y="4672707"/>
            <a:ext cx="654976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insert your Logisim screenshot of the 4-bit RCA circuit here]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8" name="Text 26"/>
          <p:cNvSpPr/>
          <p:nvPr/>
        </p:nvSpPr>
        <p:spPr>
          <a:xfrm>
            <a:off x="609585" y="6446540"/>
            <a:ext cx="116400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04 / 07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780BBA-4FA7-0C65-B13C-6C2413488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8" y="1"/>
            <a:ext cx="12180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62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pattFill prst="openDmnd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05 · SIMULATION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Inputs and outputs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3368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0099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292523"/>
            <a:ext cx="92453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Full-adder truth table: each input row yields Sum and Cout.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46326" y="1976735"/>
          <a:ext cx="4190896" cy="4375241"/>
        </p:xfrm>
        <a:graphic>
          <a:graphicData uri="http://schemas.openxmlformats.org/drawingml/2006/table">
            <a:tbl>
              <a:tblPr/>
              <a:tblGrid>
                <a:gridCol w="67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8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A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B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Cin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Sum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Cout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442014" y="1748135"/>
            <a:ext cx="4190895" cy="4832548"/>
          </a:xfrm>
          <a:prstGeom prst="roundRect">
            <a:avLst>
              <a:gd name="adj" fmla="val 273"/>
            </a:avLst>
          </a:prstGeom>
          <a:noFill/>
          <a:ln w="25399">
            <a:solidFill>
              <a:srgbClr val="8A4E0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5209" y="1951335"/>
            <a:ext cx="3784505" cy="149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Logisim screenshot of simulation output for the 4-bit adder]</a:t>
            </a:r>
            <a:endParaRPr lang="en-US" sz="1250" dirty="0"/>
          </a:p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input-output combinations observed in Logisim]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observed S3-S0 and C4 values from your run]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85" y="6446540"/>
            <a:ext cx="115110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05 /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blipFill dpi="0" rotWithShape="1">
          <a:blip r:embed="rId3">
            <a:lum/>
          </a:blip>
          <a:srcRect/>
          <a:tile tx="-254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06 ·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WRAP-UP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561806"/>
            <a:ext cx="19303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Applications and next steps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3876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Conclusion and applications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0607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338560"/>
            <a:ext cx="8686583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Outcome: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four cascaded full adders form a working 4-bit RCA.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Advantages: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simple design and low complexity.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Limitation: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carry delay grows as bit width increases.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Applications: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ALUs, processor datapaths, calculators, embedded arithmetic.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Improvements: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carry-lookahead, carry-select, or carry-skip adders for faster carry.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46326" y="3263999"/>
            <a:ext cx="92453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GitHub repository / project files:</a:t>
            </a: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[PLACEHOLDER: insert GitHub repository link]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446540"/>
            <a:ext cx="11639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06 / 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3D78D-7DAA-E2BA-0634-68650F101CA5}"/>
              </a:ext>
            </a:extLst>
          </p:cNvPr>
          <p:cNvSpPr txBox="1"/>
          <p:nvPr/>
        </p:nvSpPr>
        <p:spPr>
          <a:xfrm>
            <a:off x="1" y="136187"/>
            <a:ext cx="3073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Geo Tag Photo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0C3ED-F262-E392-6E8E-219BC80A2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87" y="782518"/>
            <a:ext cx="10406880" cy="607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03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gradFill flip="none" rotWithShape="1">
          <a:gsLst>
            <a:gs pos="0">
              <a:srgbClr val="002060"/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2762945"/>
            <a:ext cx="11734506" cy="82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5600" kern="100" spc="-56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9585" y="6446540"/>
            <a:ext cx="11628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07 / 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632</Words>
  <Application>Microsoft Office PowerPoint</Application>
  <PresentationFormat>Widescreen</PresentationFormat>
  <Paragraphs>181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Martel SemiBold</vt:lpstr>
      <vt:lpstr>Kumbh Sans Medium</vt:lpstr>
      <vt:lpstr>Arial</vt:lpstr>
      <vt:lpstr>Kumbh Sans</vt:lpstr>
      <vt:lpstr>Kumbh Sans SemiBold</vt:lpstr>
      <vt:lpstr>Kumbh Sans Bold</vt:lpstr>
      <vt:lpstr>Martel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A. Akshaya</cp:lastModifiedBy>
  <cp:revision>3</cp:revision>
  <dcterms:created xsi:type="dcterms:W3CDTF">2026-10-14T15:37:13Z</dcterms:created>
  <dcterms:modified xsi:type="dcterms:W3CDTF">2026-10-17T06:30:06Z</dcterms:modified>
</cp:coreProperties>
</file>